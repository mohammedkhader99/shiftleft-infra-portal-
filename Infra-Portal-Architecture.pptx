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E2761"/>
                </a:solidFill>
                <a:latin typeface="Calibri"/>
              </a:rPr>
              <a:t>Shift-Left Infrastructure Provisioning Portal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A526B"/>
                </a:solidFill>
                <a:latin typeface="Calibri"/>
              </a:rPr>
              <a:t>Self-service request  →  governed approval  →  automated build, with every privileged action audited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72768"/>
            <a:ext cx="1783080" cy="33101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9DB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9224" y="1719072"/>
            <a:ext cx="1490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E2761"/>
                </a:solidFill>
                <a:latin typeface="Calibri"/>
              </a:rPr>
              <a:t>CONSUMERS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121408"/>
            <a:ext cx="14904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Requester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A526B"/>
                </a:solidFill>
                <a:latin typeface="Calibri"/>
              </a:rPr>
              <a:t>raises and tracks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798063"/>
            <a:ext cx="14904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Approver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A526B"/>
                </a:solidFill>
                <a:latin typeface="Calibri"/>
              </a:rPr>
              <a:t>line manager /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3474720"/>
            <a:ext cx="14904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Platform admin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A526B"/>
                </a:solidFill>
                <a:latin typeface="Calibri"/>
              </a:rPr>
              <a:t>catalogue, settings, RBAC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572768"/>
            <a:ext cx="2788920" cy="3310128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43784" y="1719072"/>
            <a:ext cx="2496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E2761"/>
                </a:solidFill>
                <a:latin typeface="Calibri"/>
              </a:rPr>
              <a:t>PORTAL  ·  API  · 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2121408"/>
            <a:ext cx="2496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React + IBM Carbon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A526B"/>
                </a:solidFill>
                <a:latin typeface="Calibri"/>
              </a:rPr>
              <a:t>guided form, drafts, My Environments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3784" y="2798063"/>
            <a:ext cx="2496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FastAPI API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A526B"/>
                </a:solidFill>
                <a:latin typeface="Calibri"/>
              </a:rPr>
              <a:t>validation, sizing, pricing — server-side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3784" y="3474720"/>
            <a:ext cx="2496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Open Policy Agent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A526B"/>
                </a:solidFill>
                <a:latin typeface="Calibri"/>
              </a:rPr>
              <a:t>policy evaluated on every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3784" y="4151376"/>
            <a:ext cx="2496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PostgreSQL 16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A526B"/>
                </a:solidFill>
                <a:latin typeface="Calibri"/>
              </a:rPr>
              <a:t>state + append-only audit chain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572768"/>
            <a:ext cx="2103120" cy="3310128"/>
          </a:xfrm>
          <a:prstGeom prst="roundRect">
            <a:avLst>
              <a:gd name="adj" fmla="val 6000"/>
            </a:avLst>
          </a:prstGeom>
          <a:solidFill>
            <a:srgbClr val="FBECD2"/>
          </a:solidFill>
          <a:ln w="15875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044184" y="1719072"/>
            <a:ext cx="1810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8A5A10"/>
                </a:solidFill>
                <a:latin typeface="Calibri"/>
              </a:rPr>
              <a:t>APPROVAL AUTHORITY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4" y="2121408"/>
            <a:ext cx="18105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Jira Service Management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A526B"/>
                </a:solidFill>
                <a:latin typeface="Calibri"/>
              </a:rPr>
              <a:t>live — project SDIMD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4184" y="2798063"/>
            <a:ext cx="18105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Holds the approval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A526B"/>
                </a:solidFill>
                <a:latin typeface="Calibri"/>
              </a:rPr>
              <a:t>the portal never self-approves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572768"/>
            <a:ext cx="2103120" cy="3310128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58784" y="1719072"/>
            <a:ext cx="1810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E2761"/>
                </a:solidFill>
                <a:latin typeface="Calibri"/>
              </a:rPr>
              <a:t>ORCHESTRATOR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8784" y="2121408"/>
            <a:ext cx="18105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Leader-elected poller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A526B"/>
                </a:solidFill>
                <a:latin typeface="Calibri"/>
              </a:rPr>
              <a:t>single active replica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8784" y="2798063"/>
            <a:ext cx="18105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Terraform runner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A526B"/>
                </a:solidFill>
                <a:latin typeface="Calibri"/>
              </a:rPr>
              <a:t>per-request isolated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8784" y="3474720"/>
            <a:ext cx="18105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Re-verifies approval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A526B"/>
                </a:solidFill>
                <a:latin typeface="Calibri"/>
              </a:rPr>
              <a:t>before it builds anything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27080" y="1572768"/>
            <a:ext cx="758952" cy="33101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9DB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073384" y="1719072"/>
            <a:ext cx="466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E2761"/>
                </a:solidFill>
                <a:latin typeface="Calibri"/>
              </a:rPr>
              <a:t>TARGETS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27664" y="2121408"/>
            <a:ext cx="557784" cy="457200"/>
          </a:xfrm>
          <a:prstGeom prst="roundRect">
            <a:avLst>
              <a:gd name="adj" fmla="val 15000"/>
            </a:avLst>
          </a:prstGeom>
          <a:solidFill>
            <a:srgbClr val="2C7A4B"/>
          </a:solidFill>
          <a:ln w="15875">
            <a:solidFill>
              <a:srgbClr val="2C7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1027664" y="2167127"/>
            <a:ext cx="557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OCI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27664" y="2359152"/>
            <a:ext cx="557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27664" y="2670048"/>
            <a:ext cx="557784" cy="45720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1027664" y="2715768"/>
            <a:ext cx="557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5A3B08"/>
                </a:solidFill>
                <a:latin typeface="Calibri"/>
              </a:rPr>
              <a:t>Azure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27664" y="2907791"/>
            <a:ext cx="557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5A3B08"/>
                </a:solidFill>
                <a:latin typeface="Calibri"/>
              </a:rPr>
              <a:t>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27664" y="3255264"/>
            <a:ext cx="557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8A92A6"/>
                </a:solidFill>
                <a:latin typeface="Calibri"/>
              </a:rPr>
              <a:t>AWS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27664" y="3438144"/>
            <a:ext cx="557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8A92A6"/>
                </a:solidFill>
                <a:latin typeface="Calibri"/>
              </a:rPr>
              <a:t>cost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27664" y="3803904"/>
            <a:ext cx="557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8A92A6"/>
                </a:solidFill>
                <a:latin typeface="Calibri"/>
              </a:rPr>
              <a:t>GCP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27664" y="3986784"/>
            <a:ext cx="557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8A92A6"/>
                </a:solidFill>
                <a:latin typeface="Calibri"/>
              </a:rPr>
              <a:t>cost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27664" y="4352544"/>
            <a:ext cx="557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8A92A6"/>
                </a:solidFill>
                <a:latin typeface="Calibri"/>
              </a:rPr>
              <a:t>On-prem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27664" y="4535424"/>
            <a:ext cx="557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8A92A6"/>
                </a:solidFill>
                <a:latin typeface="Calibri"/>
              </a:rPr>
              <a:t>cost only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340864" y="2990088"/>
            <a:ext cx="274320" cy="384048"/>
          </a:xfrm>
          <a:prstGeom prst="rightArrow">
            <a:avLst/>
          </a:prstGeom>
          <a:solidFill>
            <a:srgbClr val="9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5541264" y="2990088"/>
            <a:ext cx="274320" cy="384048"/>
          </a:xfrm>
          <a:prstGeom prst="rightArrow">
            <a:avLst/>
          </a:prstGeom>
          <a:solidFill>
            <a:srgbClr val="9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8055864" y="2990088"/>
            <a:ext cx="274320" cy="384048"/>
          </a:xfrm>
          <a:prstGeom prst="rightArrow">
            <a:avLst/>
          </a:prstGeom>
          <a:solidFill>
            <a:srgbClr val="9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10570464" y="2990088"/>
            <a:ext cx="274320" cy="384048"/>
          </a:xfrm>
          <a:prstGeom prst="rightArrow">
            <a:avLst/>
          </a:prstGeom>
          <a:solidFill>
            <a:srgbClr val="9D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2920" y="5138928"/>
            <a:ext cx="76352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5266944"/>
            <a:ext cx="7223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SEPARATION OF AUTHORITY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The portal collects and validates  ·  Jira holds the approval  ·  the orchestrator executes only after re-verifying 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0" y="5138928"/>
            <a:ext cx="3273552" cy="658368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5875">
            <a:solidFill>
              <a:srgbClr val="9DB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540496" y="5230368"/>
            <a:ext cx="3017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AI ADVISOR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4A526B"/>
                </a:solidFill>
                <a:latin typeface="Calibri"/>
              </a:rPr>
              <a:t>Recommends only — never approves, never provisions, holds no credentials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8A92A6"/>
                </a:solidFill>
                <a:latin typeface="Calibri"/>
              </a:rPr>
              <a:t>Identity: Microsoft Entra ID (sign-in)   ·   Secrets: OCI Vault — the portal holds a reference, never a password   ·   Audit: append-only, hash-chained   ·   Mock mode is the default; nothing real builds without an approval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00800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8A92A6"/>
                </a:solidFill>
                <a:latin typeface="Calibri"/>
              </a:rPr>
              <a:t>As built, 21 Aug 2026  ·  9 OCI workload types provisioning end to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